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project: a small Flask notes API that we used as the vehicle for every DevOps step in CA-2: pipeline, configuration management, containers and orchestration, and monitoring.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 goes from the developer to GitHub, where Actions tests, builds and validates the deploy. Kubernetes runs three replicas behind a NodePort service. Ansible prepares a plain host independently of the cluster. Every pod exposes /metrics, which Prometheus scrapes and Grafana visualises.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Every push is tested, built into an image tagged with its commit and smoke-tested as a running container before the Kubernetes manifests are validated. Ansible prepares a plain host and is idempotent: the second run changed nothing. In Kubernetes, three replicas sit behind a NodePort service; a rolling update replaces pods one at a time without dropping capacity, and rollout undo reverts in one command. Prometheus scrapes every pod and Grafana shows uptime, request rate, p95 latency and error 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problems we hit while running the steps. Each fix is visible in the repository: the pip flag in the playbook, the pull policy in the Deployment, the /version endpoint driven by APP_VERSION, and the /boom endpoint used to populate the error-rate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what we learned. The screenshot shows the idempotency proof: the first run changed six tasks, the second changed none. Then thank the audience and point to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305520"/>
            <a:ext cx="10566400" cy="447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2A234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057334"/>
            <a:ext cx="10566400" cy="3987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305520"/>
            <a:ext cx="10566400" cy="447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2A234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057334"/>
            <a:ext cx="10566400" cy="3987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3000" y="0"/>
            <a:ext cx="5715000" cy="5715000"/>
          </a:xfrm>
          <a:prstGeom prst="roundRect">
            <a:avLst>
              <a:gd name="adj" fmla="val 28444"/>
            </a:avLst>
          </a:prstGeom>
          <a:solidFill>
            <a:srgbClr val="EAF1FB"/>
          </a:solidFill>
          <a:ln/>
        </p:spPr>
      </p:sp>
      <p:sp>
        <p:nvSpPr>
          <p:cNvPr id="3" name="Shape 1"/>
          <p:cNvSpPr/>
          <p:nvPr/>
        </p:nvSpPr>
        <p:spPr>
          <a:xfrm>
            <a:off x="9017000" y="3556000"/>
            <a:ext cx="3937000" cy="3937000"/>
          </a:xfrm>
          <a:prstGeom prst="roundRect">
            <a:avLst>
              <a:gd name="adj" fmla="val 41290"/>
            </a:avLst>
          </a:prstGeom>
          <a:solidFill>
            <a:srgbClr val="F0EBFA"/>
          </a:solidFill>
          <a:ln/>
        </p:spPr>
      </p:sp>
      <p:sp>
        <p:nvSpPr>
          <p:cNvPr id="4" name="Shape 2"/>
          <p:cNvSpPr/>
          <p:nvPr/>
        </p:nvSpPr>
        <p:spPr>
          <a:xfrm>
            <a:off x="7874000" y="4064000"/>
            <a:ext cx="1651000" cy="1651000"/>
          </a:xfrm>
          <a:prstGeom prst="roundRect">
            <a:avLst>
              <a:gd name="adj" fmla="val 50000"/>
            </a:avLst>
          </a:prstGeom>
          <a:solidFill>
            <a:srgbClr val="F7DCCB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A9C7EE"/>
          </a:solidFill>
          <a:ln/>
        </p:spPr>
      </p:sp>
      <p:sp>
        <p:nvSpPr>
          <p:cNvPr id="6" name="Shape 4"/>
          <p:cNvSpPr/>
          <p:nvPr/>
        </p:nvSpPr>
        <p:spPr>
          <a:xfrm>
            <a:off x="4064000" y="0"/>
            <a:ext cx="4064000" cy="76200"/>
          </a:xfrm>
          <a:prstGeom prst="rect">
            <a:avLst/>
          </a:prstGeom>
          <a:solidFill>
            <a:srgbClr val="A08BDB"/>
          </a:solidFill>
          <a:ln/>
        </p:spPr>
      </p:sp>
      <p:sp>
        <p:nvSpPr>
          <p:cNvPr id="7" name="Shape 5"/>
          <p:cNvSpPr/>
          <p:nvPr/>
        </p:nvSpPr>
        <p:spPr>
          <a:xfrm>
            <a:off x="8128000" y="0"/>
            <a:ext cx="4064000" cy="76200"/>
          </a:xfrm>
          <a:prstGeom prst="rect">
            <a:avLst/>
          </a:prstGeom>
          <a:solidFill>
            <a:srgbClr val="D9A98C"/>
          </a:solidFill>
          <a:ln/>
        </p:spPr>
      </p:sp>
      <p:pic>
        <p:nvPicPr>
          <p:cNvPr id="8" name="Image 0" descr="DevOps lifecycle loop: plan, code, build, test, release, deploy, operate, monit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3000" y="1587500"/>
            <a:ext cx="4064000" cy="21590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12800" y="1243409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6B4F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DEVOPS THEORY · CA-2 · BTECH PROJECT</a:t>
            </a:r>
            <a:endParaRPr lang="en-US" sz="1200" dirty="0"/>
          </a:p>
        </p:txBody>
      </p:sp>
      <p:sp>
        <p:nvSpPr>
          <p:cNvPr id="10" name="Text 7"/>
          <p:cNvSpPr/>
          <p:nvPr>
            <p:ph type="title"/>
          </p:nvPr>
        </p:nvSpPr>
        <p:spPr>
          <a:xfrm>
            <a:off x="812800" y="1710730"/>
            <a:ext cx="65405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600"/>
              </a:lnSpc>
              <a:buNone/>
            </a:pPr>
            <a:r>
              <a:rPr lang="en-US" sz="6600" b="0" i="0" dirty="0">
                <a:solidFill>
                  <a:srgbClr val="2A2340"/>
                </a:solidFill>
                <a:latin typeface="Fraunces" pitchFamily="18" charset="0"/>
                <a:ea typeface="Fraunces" pitchFamily="18" charset="-122"/>
                <a:cs typeface="Fraunces" pitchFamily="18" charset="-120"/>
              </a:rPr>
              <a:t>Notes Service</a:t>
            </a:r>
            <a:endParaRPr lang="en-US" sz="6600" dirty="0"/>
          </a:p>
        </p:txBody>
      </p:sp>
      <p:sp>
        <p:nvSpPr>
          <p:cNvPr id="11" name="Text 8"/>
          <p:cNvSpPr/>
          <p:nvPr/>
        </p:nvSpPr>
        <p:spPr>
          <a:xfrm>
            <a:off x="812800" y="2802930"/>
            <a:ext cx="640969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200" i="1" dirty="0">
                <a:solidFill>
                  <a:srgbClr val="7A4D39"/>
                </a:solidFill>
                <a:latin typeface="Fraunces" pitchFamily="18" charset="0"/>
                <a:ea typeface="Fraunces" pitchFamily="18" charset="-122"/>
                <a:cs typeface="Fraunces" pitchFamily="18" charset="-120"/>
              </a:rPr>
              <a:t>From commit to cluster: a Flask REST service taken through the full DevOps lifecycle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12800" y="3755430"/>
            <a:ext cx="1414132" cy="34032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Actions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328532" y="3755430"/>
            <a:ext cx="857647" cy="340320"/>
          </a:xfrm>
          <a:prstGeom prst="roundRect">
            <a:avLst>
              <a:gd name="adj" fmla="val 50000"/>
            </a:avLst>
          </a:prstGeom>
          <a:solidFill>
            <a:srgbClr val="F0EBFA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Ansible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287779" y="3755430"/>
            <a:ext cx="1861807" cy="340320"/>
          </a:xfrm>
          <a:prstGeom prst="roundRect">
            <a:avLst>
              <a:gd name="adj" fmla="val 50000"/>
            </a:avLst>
          </a:prstGeom>
          <a:solidFill>
            <a:srgbClr val="FBEAD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+ Kubernetes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12800" y="4197350"/>
            <a:ext cx="1959835" cy="340320"/>
          </a:xfrm>
          <a:prstGeom prst="roundRect">
            <a:avLst>
              <a:gd name="adj" fmla="val 50000"/>
            </a:avLst>
          </a:prstGeom>
          <a:solidFill>
            <a:srgbClr val="EAF1F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+ Grafana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5500" y="4791670"/>
            <a:ext cx="0" cy="822920"/>
          </a:xfrm>
          <a:prstGeom prst="line">
            <a:avLst/>
          </a:prstGeom>
          <a:noFill/>
          <a:ln w="25400">
            <a:solidFill>
              <a:srgbClr val="A08BD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16000" y="4791670"/>
            <a:ext cx="1067409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[Member 1 name] · [PRN]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016000" y="5078677"/>
            <a:ext cx="1067409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[Member 2 name] · [PRN]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16000" y="5365684"/>
            <a:ext cx="1067409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[Member 3 name] · [PRN]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A9C7EE"/>
          </a:solidFill>
          <a:ln/>
        </p:spPr>
      </p:sp>
      <p:sp>
        <p:nvSpPr>
          <p:cNvPr id="3" name="Shape 1"/>
          <p:cNvSpPr/>
          <p:nvPr/>
        </p:nvSpPr>
        <p:spPr>
          <a:xfrm>
            <a:off x="4064000" y="0"/>
            <a:ext cx="4064000" cy="76200"/>
          </a:xfrm>
          <a:prstGeom prst="rect">
            <a:avLst/>
          </a:prstGeom>
          <a:solidFill>
            <a:srgbClr val="A08BDB"/>
          </a:solidFill>
          <a:ln/>
        </p:spPr>
      </p:sp>
      <p:sp>
        <p:nvSpPr>
          <p:cNvPr id="4" name="Shape 2"/>
          <p:cNvSpPr/>
          <p:nvPr/>
        </p:nvSpPr>
        <p:spPr>
          <a:xfrm>
            <a:off x="8128000" y="0"/>
            <a:ext cx="4064000" cy="76200"/>
          </a:xfrm>
          <a:prstGeom prst="rect">
            <a:avLst/>
          </a:prstGeom>
          <a:solidFill>
            <a:srgbClr val="D9A98C"/>
          </a:solidFill>
          <a:ln/>
        </p:spPr>
      </p:sp>
      <p:sp>
        <p:nvSpPr>
          <p:cNvPr id="5" name="Text 3"/>
          <p:cNvSpPr/>
          <p:nvPr/>
        </p:nvSpPr>
        <p:spPr>
          <a:xfrm>
            <a:off x="812800" y="368300"/>
            <a:ext cx="2514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4F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SERVICE · CA-2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077737" y="330200"/>
            <a:ext cx="1144257" cy="289520"/>
          </a:xfrm>
          <a:custGeom>
            <a:avLst/>
            <a:gdLst/>
            <a:ahLst/>
            <a:cxnLst/>
            <a:rect l="l" t="t" r="r" b="b"/>
            <a:pathLst>
              <a:path w="1144257" h="289520">
                <a:moveTo>
                  <a:pt x="144760" y="0"/>
                </a:moveTo>
                <a:lnTo>
                  <a:pt x="999497" y="0"/>
                </a:lnTo>
                <a:arcTo hR="144760" wR="144760" stAng="16200000" swAng="5400000"/>
                <a:lnTo>
                  <a:pt x="1144257" y="144760"/>
                </a:lnTo>
                <a:arcTo hR="144760" wR="144760" stAng="0" swAng="5400000"/>
                <a:lnTo>
                  <a:pt x="144760" y="289520"/>
                </a:lnTo>
                <a:arcTo hR="144760" wR="144760" stAng="5400000" swAng="5400000"/>
                <a:lnTo>
                  <a:pt x="0" y="144760"/>
                </a:lnTo>
                <a:arcTo hR="144760" wR="144760" stAng="10800000" swAng="5400000"/>
                <a:close/>
              </a:path>
            </a:pathLst>
          </a:custGeom>
          <a:solidFill>
            <a:srgbClr val="E9E3F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87093" y="368300"/>
            <a:ext cx="1102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85193" y="368300"/>
            <a:ext cx="96297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Challenges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67074" y="368300"/>
            <a:ext cx="7173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1016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11" name="Text 9"/>
          <p:cNvSpPr/>
          <p:nvPr>
            <p:ph type="title"/>
          </p:nvPr>
        </p:nvSpPr>
        <p:spPr>
          <a:xfrm>
            <a:off x="812800" y="1305520"/>
            <a:ext cx="10883392" cy="472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2A2340"/>
                </a:solidFill>
                <a:latin typeface="Fraunces" pitchFamily="18" charset="0"/>
                <a:ea typeface="Fraunces" pitchFamily="18" charset="-122"/>
                <a:cs typeface="Fraunces" pitchFamily="18" charset="-120"/>
              </a:rPr>
              <a:t>How the pieces connect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819150" y="2260468"/>
            <a:ext cx="1193800" cy="868627"/>
          </a:xfrm>
          <a:prstGeom prst="roundRect">
            <a:avLst>
              <a:gd name="adj" fmla="val 12428"/>
            </a:avLst>
          </a:prstGeom>
          <a:solidFill>
            <a:srgbClr val="FFFFFF"/>
          </a:solidFill>
          <a:ln w="12700">
            <a:solidFill>
              <a:srgbClr val="E6DE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9245" y="2444618"/>
            <a:ext cx="1053544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744" y="2731625"/>
            <a:ext cx="6925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push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46300" y="2516981"/>
            <a:ext cx="2700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A478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498857" y="2260468"/>
            <a:ext cx="1257300" cy="868627"/>
          </a:xfrm>
          <a:prstGeom prst="roundRect">
            <a:avLst>
              <a:gd name="adj" fmla="val 12428"/>
            </a:avLst>
          </a:prstGeom>
          <a:solidFill>
            <a:srgbClr val="FFFFFF"/>
          </a:solidFill>
          <a:ln w="12700">
            <a:solidFill>
              <a:srgbClr val="E6DE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70399" y="2444618"/>
            <a:ext cx="714216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688960" y="2731625"/>
            <a:ext cx="877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repository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89508" y="2516981"/>
            <a:ext cx="2700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A478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235715" y="2214761"/>
            <a:ext cx="3495278" cy="960041"/>
          </a:xfrm>
          <a:prstGeom prst="roundRect">
            <a:avLst>
              <a:gd name="adj" fmla="val 13229"/>
            </a:avLst>
          </a:prstGeom>
          <a:solidFill>
            <a:srgbClr val="EAF1FB"/>
          </a:solidFill>
          <a:ln/>
        </p:spPr>
      </p:sp>
      <p:sp>
        <p:nvSpPr>
          <p:cNvPr id="21" name="Text 19"/>
          <p:cNvSpPr/>
          <p:nvPr/>
        </p:nvSpPr>
        <p:spPr>
          <a:xfrm>
            <a:off x="4413515" y="2367161"/>
            <a:ext cx="32338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ACTIONS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13515" y="2682081"/>
            <a:ext cx="544976" cy="340320"/>
          </a:xfrm>
          <a:prstGeom prst="roundRect">
            <a:avLst>
              <a:gd name="adj" fmla="val 22391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1990" y="2745581"/>
            <a:ext cx="1094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44095" y="2682081"/>
            <a:ext cx="597297" cy="340320"/>
          </a:xfrm>
          <a:prstGeom prst="roundRect">
            <a:avLst>
              <a:gd name="adj" fmla="val 22391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04892" y="2745581"/>
            <a:ext cx="1094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26998" y="2682081"/>
            <a:ext cx="743413" cy="340320"/>
          </a:xfrm>
          <a:prstGeom prst="roundRect">
            <a:avLst>
              <a:gd name="adj" fmla="val 22391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57993" y="2516981"/>
            <a:ext cx="27000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A478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8204200" y="2006534"/>
            <a:ext cx="3175000" cy="1376561"/>
          </a:xfrm>
          <a:prstGeom prst="roundRect">
            <a:avLst>
              <a:gd name="adj" fmla="val 9226"/>
            </a:avLst>
          </a:prstGeom>
          <a:solidFill>
            <a:srgbClr val="F0EBFA"/>
          </a:solidFill>
          <a:ln/>
        </p:spPr>
      </p:sp>
      <p:sp>
        <p:nvSpPr>
          <p:cNvPr id="29" name="Text 27"/>
          <p:cNvSpPr/>
          <p:nvPr/>
        </p:nvSpPr>
        <p:spPr>
          <a:xfrm>
            <a:off x="8382000" y="2158934"/>
            <a:ext cx="29039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KUBERNETES CLUSTER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82000" y="2461154"/>
            <a:ext cx="2819400" cy="340320"/>
          </a:xfrm>
          <a:prstGeom prst="roundRect">
            <a:avLst>
              <a:gd name="adj" fmla="val 22391"/>
            </a:avLst>
          </a:prstGeom>
          <a:solidFill>
            <a:srgbClr val="FFFFFF"/>
          </a:solidFill>
          <a:ln/>
        </p:spPr>
        <p:txBody>
          <a:bodyPr wrap="square" lIns="91982" tIns="41182" rIns="14258" bIns="1578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· NodePort 30080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382000" y="2890375"/>
            <a:ext cx="897467" cy="340320"/>
          </a:xfrm>
          <a:custGeom>
            <a:avLst/>
            <a:gdLst/>
            <a:ahLst/>
            <a:cxnLst/>
            <a:rect l="l" t="t" r="r" b="b"/>
            <a:pathLst>
              <a:path w="897467" h="340320">
                <a:moveTo>
                  <a:pt x="76200" y="0"/>
                </a:moveTo>
                <a:lnTo>
                  <a:pt x="821267" y="0"/>
                </a:lnTo>
                <a:arcTo hR="76200" wR="76200" stAng="16200000" swAng="5400000"/>
                <a:lnTo>
                  <a:pt x="897467" y="264120"/>
                </a:lnTo>
                <a:arcTo hR="76200" wR="76200" stAng="0" swAng="5400000"/>
                <a:lnTo>
                  <a:pt x="76200" y="3403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close/>
              </a:path>
            </a:pathLst>
          </a:custGeom>
          <a:solidFill>
            <a:srgbClr val="FFFFFF"/>
          </a:solidFill>
          <a:ln/>
        </p:spPr>
        <p:txBody>
          <a:bodyPr wrap="square" lIns="0" tIns="63500" rIns="0" bIns="3810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Pod 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342967" y="2890375"/>
            <a:ext cx="897467" cy="340320"/>
          </a:xfrm>
          <a:custGeom>
            <a:avLst/>
            <a:gdLst/>
            <a:ahLst/>
            <a:cxnLst/>
            <a:rect l="l" t="t" r="r" b="b"/>
            <a:pathLst>
              <a:path w="897467" h="340320">
                <a:moveTo>
                  <a:pt x="76200" y="0"/>
                </a:moveTo>
                <a:lnTo>
                  <a:pt x="821267" y="0"/>
                </a:lnTo>
                <a:arcTo hR="76200" wR="76200" stAng="16200000" swAng="5400000"/>
                <a:lnTo>
                  <a:pt x="897467" y="264120"/>
                </a:lnTo>
                <a:arcTo hR="76200" wR="76200" stAng="0" swAng="5400000"/>
                <a:lnTo>
                  <a:pt x="76200" y="3403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close/>
              </a:path>
            </a:pathLst>
          </a:custGeom>
          <a:solidFill>
            <a:srgbClr val="FFFFFF"/>
          </a:solidFill>
          <a:ln/>
        </p:spPr>
        <p:txBody>
          <a:bodyPr wrap="square" lIns="0" tIns="63500" rIns="0" bIns="3810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Pod 2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303934" y="2890375"/>
            <a:ext cx="897467" cy="340320"/>
          </a:xfrm>
          <a:custGeom>
            <a:avLst/>
            <a:gdLst/>
            <a:ahLst/>
            <a:cxnLst/>
            <a:rect l="l" t="t" r="r" b="b"/>
            <a:pathLst>
              <a:path w="897467" h="340320">
                <a:moveTo>
                  <a:pt x="76200" y="0"/>
                </a:moveTo>
                <a:lnTo>
                  <a:pt x="821267" y="0"/>
                </a:lnTo>
                <a:arcTo hR="76200" wR="76200" stAng="16200000" swAng="5400000"/>
                <a:lnTo>
                  <a:pt x="897467" y="264120"/>
                </a:lnTo>
                <a:arcTo hR="76200" wR="76200" stAng="0" swAng="5400000"/>
                <a:lnTo>
                  <a:pt x="76200" y="3403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close/>
              </a:path>
            </a:pathLst>
          </a:custGeom>
          <a:solidFill>
            <a:srgbClr val="FFFFFF"/>
          </a:solidFill>
          <a:ln/>
        </p:spPr>
        <p:txBody>
          <a:bodyPr wrap="square" lIns="0" tIns="63500" rIns="0" bIns="3810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Pod 3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12800" y="3637095"/>
            <a:ext cx="5207000" cy="1028634"/>
          </a:xfrm>
          <a:prstGeom prst="roundRect">
            <a:avLst>
              <a:gd name="adj" fmla="val 12346"/>
            </a:avLst>
          </a:prstGeom>
          <a:solidFill>
            <a:srgbClr val="FBEADF"/>
          </a:solidFill>
          <a:ln/>
        </p:spPr>
      </p:sp>
      <p:sp>
        <p:nvSpPr>
          <p:cNvPr id="35" name="Text 33"/>
          <p:cNvSpPr/>
          <p:nvPr/>
        </p:nvSpPr>
        <p:spPr>
          <a:xfrm>
            <a:off x="1016000" y="3814895"/>
            <a:ext cx="49446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· ANSIBLE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16000" y="4129815"/>
            <a:ext cx="1304330" cy="358114"/>
          </a:xfrm>
          <a:prstGeom prst="roundRect">
            <a:avLst>
              <a:gd name="adj" fmla="val 21278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playbook.yml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2421930" y="4166659"/>
            <a:ext cx="22998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⇢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2702719" y="4129815"/>
            <a:ext cx="2391701" cy="358114"/>
          </a:xfrm>
          <a:prstGeom prst="roundRect">
            <a:avLst>
              <a:gd name="adj" fmla="val 21278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Host: packages · user · files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172200" y="3637095"/>
            <a:ext cx="5207000" cy="1028634"/>
          </a:xfrm>
          <a:prstGeom prst="roundRect">
            <a:avLst>
              <a:gd name="adj" fmla="val 12346"/>
            </a:avLst>
          </a:prstGeom>
          <a:solidFill>
            <a:srgbClr val="EAF1FB"/>
          </a:solidFill>
          <a:ln/>
        </p:spPr>
      </p:sp>
      <p:sp>
        <p:nvSpPr>
          <p:cNvPr id="40" name="Text 38"/>
          <p:cNvSpPr/>
          <p:nvPr/>
        </p:nvSpPr>
        <p:spPr>
          <a:xfrm>
            <a:off x="6375400" y="3814895"/>
            <a:ext cx="49446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OBSERVABILITY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375400" y="4129815"/>
            <a:ext cx="1333500" cy="358114"/>
          </a:xfrm>
          <a:prstGeom prst="roundRect">
            <a:avLst>
              <a:gd name="adj" fmla="val 21278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Pods /metrics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810500" y="4166659"/>
            <a:ext cx="226153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087453" y="4129815"/>
            <a:ext cx="1192940" cy="358114"/>
          </a:xfrm>
          <a:prstGeom prst="roundRect">
            <a:avLst>
              <a:gd name="adj" fmla="val 21278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381993" y="4166659"/>
            <a:ext cx="226153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9658945" y="4129815"/>
            <a:ext cx="862939" cy="358114"/>
          </a:xfrm>
          <a:prstGeom prst="roundRect">
            <a:avLst>
              <a:gd name="adj" fmla="val 21278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Grafana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12800" y="4919729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Flask app endpoints</a:t>
            </a:r>
            <a:r>
              <a:rPr lang="en-US" sz="1200" dirty="0">
                <a:solidFill>
                  <a:srgbClr val="5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200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/health · /version · /notes · /metrics · /boom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12800" y="6238280"/>
            <a:ext cx="703175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Flask app · GitHub Actions · Ansible · Docker · Kubernetes · Prometheus · Grafana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A9C7EE"/>
          </a:solidFill>
          <a:ln/>
        </p:spPr>
      </p:sp>
      <p:sp>
        <p:nvSpPr>
          <p:cNvPr id="3" name="Shape 1"/>
          <p:cNvSpPr/>
          <p:nvPr/>
        </p:nvSpPr>
        <p:spPr>
          <a:xfrm>
            <a:off x="4064000" y="0"/>
            <a:ext cx="4064000" cy="76200"/>
          </a:xfrm>
          <a:prstGeom prst="rect">
            <a:avLst/>
          </a:prstGeom>
          <a:solidFill>
            <a:srgbClr val="A08BDB"/>
          </a:solidFill>
          <a:ln/>
        </p:spPr>
      </p:sp>
      <p:sp>
        <p:nvSpPr>
          <p:cNvPr id="4" name="Shape 2"/>
          <p:cNvSpPr/>
          <p:nvPr/>
        </p:nvSpPr>
        <p:spPr>
          <a:xfrm>
            <a:off x="8128000" y="0"/>
            <a:ext cx="4064000" cy="76200"/>
          </a:xfrm>
          <a:prstGeom prst="rect">
            <a:avLst/>
          </a:prstGeom>
          <a:solidFill>
            <a:srgbClr val="D9A98C"/>
          </a:solidFill>
          <a:ln/>
        </p:spPr>
      </p:sp>
      <p:sp>
        <p:nvSpPr>
          <p:cNvPr id="5" name="Text 3"/>
          <p:cNvSpPr/>
          <p:nvPr/>
        </p:nvSpPr>
        <p:spPr>
          <a:xfrm>
            <a:off x="812800" y="368300"/>
            <a:ext cx="2514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4F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SERVICE · CA-2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201826" y="368300"/>
            <a:ext cx="10471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48981" y="330200"/>
            <a:ext cx="1171112" cy="289520"/>
          </a:xfrm>
          <a:custGeom>
            <a:avLst/>
            <a:gdLst/>
            <a:ahLst/>
            <a:cxnLst/>
            <a:rect l="l" t="t" r="r" b="b"/>
            <a:pathLst>
              <a:path w="1171112" h="289520">
                <a:moveTo>
                  <a:pt x="144760" y="0"/>
                </a:moveTo>
                <a:lnTo>
                  <a:pt x="1026352" y="0"/>
                </a:lnTo>
                <a:arcTo hR="144760" wR="144760" stAng="16200000" swAng="5400000"/>
                <a:lnTo>
                  <a:pt x="1171112" y="144760"/>
                </a:lnTo>
                <a:arcTo hR="144760" wR="144760" stAng="0" swAng="5400000"/>
                <a:lnTo>
                  <a:pt x="144760" y="289520"/>
                </a:lnTo>
                <a:arcTo hR="144760" wR="144760" stAng="5400000" swAng="5400000"/>
                <a:lnTo>
                  <a:pt x="0" y="144760"/>
                </a:lnTo>
                <a:arcTo hR="144760" wR="144760" stAng="10800000" swAng="5400000"/>
                <a:close/>
              </a:path>
            </a:pathLst>
          </a:custGeom>
          <a:solidFill>
            <a:srgbClr val="E9E3F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85193" y="368300"/>
            <a:ext cx="96297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Challenges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67074" y="368300"/>
            <a:ext cx="7173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1016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FLOW</a:t>
            </a:r>
            <a:endParaRPr lang="en-US" sz="1200" dirty="0"/>
          </a:p>
        </p:txBody>
      </p:sp>
      <p:sp>
        <p:nvSpPr>
          <p:cNvPr id="11" name="Text 9"/>
          <p:cNvSpPr/>
          <p:nvPr>
            <p:ph type="title"/>
          </p:nvPr>
        </p:nvSpPr>
        <p:spPr>
          <a:xfrm>
            <a:off x="812800" y="1305520"/>
            <a:ext cx="10883392" cy="472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2A2340"/>
                </a:solidFill>
                <a:latin typeface="Fraunces" pitchFamily="18" charset="0"/>
                <a:ea typeface="Fraunces" pitchFamily="18" charset="-122"/>
                <a:cs typeface="Fraunces" pitchFamily="18" charset="-120"/>
              </a:rPr>
              <a:t>From commit to monitored cluster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819150" y="1987485"/>
            <a:ext cx="2533650" cy="300183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6DE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2171635"/>
            <a:ext cx="22303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 · CI/CD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3300" y="2473855"/>
            <a:ext cx="2230311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Actions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19556" y="2806568"/>
            <a:ext cx="2209102" cy="1594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Trigger: push or PR to main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Test: pytest, Python 3.12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Build: image tagged by SHA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Smoke test /health, /metrics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Deploy: validate manifests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03300" y="4464844"/>
            <a:ext cx="2165350" cy="340320"/>
          </a:xfrm>
          <a:prstGeom prst="roundRect">
            <a:avLst>
              <a:gd name="adj" fmla="val 22391"/>
            </a:avLst>
          </a:prstGeom>
          <a:solidFill>
            <a:srgbClr val="EAF1FB"/>
          </a:solidFill>
          <a:ln/>
        </p:spPr>
        <p:txBody>
          <a:bodyPr wrap="square" lIns="79282" tIns="41182" rIns="20417" bIns="1578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› Build › Deploy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92500" y="1987485"/>
            <a:ext cx="2533650" cy="300183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6DE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76650" y="2171635"/>
            <a:ext cx="22303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 · CONFIG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76650" y="2473855"/>
            <a:ext cx="2230311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Ansible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92906" y="2806568"/>
            <a:ext cx="2209102" cy="1594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apt: python3, pip, git, curl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notesapp user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/opt/notes-service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.env with mode 0600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 install requirements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76650" y="4464844"/>
            <a:ext cx="2165350" cy="340320"/>
          </a:xfrm>
          <a:prstGeom prst="roundRect">
            <a:avLst>
              <a:gd name="adj" fmla="val 22391"/>
            </a:avLst>
          </a:prstGeom>
          <a:solidFill>
            <a:srgbClr val="F0EBFA"/>
          </a:solidFill>
          <a:ln/>
        </p:spPr>
        <p:txBody>
          <a:bodyPr wrap="square" lIns="79282" tIns="41182" rIns="20417" bIns="1578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Re-run: changed 6 → 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65850" y="1987485"/>
            <a:ext cx="2533650" cy="300183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6DE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50000" y="2171635"/>
            <a:ext cx="22303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 · CONTAINERS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50000" y="2473855"/>
            <a:ext cx="2230311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+ K8s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366256" y="2806568"/>
            <a:ext cx="2209102" cy="1594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python:3.12-slim, non-root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replicas, NodePort 30080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Probes on /health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maxSurge 1, maxUnavailable 0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Rollback: rollout undo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0000" y="4464844"/>
            <a:ext cx="2165350" cy="340320"/>
          </a:xfrm>
          <a:prstGeom prst="roundRect">
            <a:avLst>
              <a:gd name="adj" fmla="val 22391"/>
            </a:avLst>
          </a:prstGeom>
          <a:solidFill>
            <a:srgbClr val="FBEADF"/>
          </a:solidFill>
          <a:ln/>
        </p:spPr>
        <p:txBody>
          <a:bodyPr wrap="square" lIns="79282" tIns="41182" rIns="20417" bIns="1578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Zero-downtime updates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839200" y="1987485"/>
            <a:ext cx="2533650" cy="300183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6DED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23350" y="2171635"/>
            <a:ext cx="22303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 · MONITORING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23350" y="2473855"/>
            <a:ext cx="2230311" cy="513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Prometheus + Grafana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039606" y="3050381"/>
            <a:ext cx="2209102" cy="1350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Scrape /metrics every 5 s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Uptime from up{job}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 rate, p95 latency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 rate % from 5xx</a:t>
            </a:r>
            <a:endParaRPr lang="en-US" sz="1200" dirty="0"/>
          </a:p>
          <a:p>
            <a:pPr algn="l" marL="148844" indent="-148844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3E385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Datasource auto-provisioned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023350" y="4464844"/>
            <a:ext cx="2165350" cy="340320"/>
          </a:xfrm>
          <a:prstGeom prst="roundRect">
            <a:avLst>
              <a:gd name="adj" fmla="val 22391"/>
            </a:avLst>
          </a:prstGeom>
          <a:solidFill>
            <a:srgbClr val="EAF1FB"/>
          </a:solidFill>
          <a:ln/>
        </p:spPr>
        <p:txBody>
          <a:bodyPr wrap="square" lIns="79282" tIns="41182" rIns="20417" bIns="15782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F5C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dashboard panels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12800" y="6238280"/>
            <a:ext cx="45330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ci.yml · playbook.yml · Dockerfile · k8s/ · monitoring/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A9C7EE"/>
          </a:solidFill>
          <a:ln/>
        </p:spPr>
      </p:sp>
      <p:sp>
        <p:nvSpPr>
          <p:cNvPr id="3" name="Shape 1"/>
          <p:cNvSpPr/>
          <p:nvPr/>
        </p:nvSpPr>
        <p:spPr>
          <a:xfrm>
            <a:off x="4064000" y="0"/>
            <a:ext cx="4064000" cy="76200"/>
          </a:xfrm>
          <a:prstGeom prst="rect">
            <a:avLst/>
          </a:prstGeom>
          <a:solidFill>
            <a:srgbClr val="A08BDB"/>
          </a:solidFill>
          <a:ln/>
        </p:spPr>
      </p:sp>
      <p:sp>
        <p:nvSpPr>
          <p:cNvPr id="4" name="Shape 2"/>
          <p:cNvSpPr/>
          <p:nvPr/>
        </p:nvSpPr>
        <p:spPr>
          <a:xfrm>
            <a:off x="8128000" y="0"/>
            <a:ext cx="4064000" cy="76200"/>
          </a:xfrm>
          <a:prstGeom prst="rect">
            <a:avLst/>
          </a:prstGeom>
          <a:solidFill>
            <a:srgbClr val="D9A98C"/>
          </a:solidFill>
          <a:ln/>
        </p:spPr>
      </p:sp>
      <p:sp>
        <p:nvSpPr>
          <p:cNvPr id="5" name="Text 3"/>
          <p:cNvSpPr/>
          <p:nvPr/>
        </p:nvSpPr>
        <p:spPr>
          <a:xfrm>
            <a:off x="812800" y="368300"/>
            <a:ext cx="2514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4F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SERVICE · CA-2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202686" y="368300"/>
            <a:ext cx="10584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5A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64141" y="368300"/>
            <a:ext cx="1083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5A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447940" y="330200"/>
            <a:ext cx="1054034" cy="289520"/>
          </a:xfrm>
          <a:custGeom>
            <a:avLst/>
            <a:gdLst/>
            <a:ahLst/>
            <a:cxnLst/>
            <a:rect l="l" t="t" r="r" b="b"/>
            <a:pathLst>
              <a:path w="1054034" h="289520">
                <a:moveTo>
                  <a:pt x="144760" y="0"/>
                </a:moveTo>
                <a:lnTo>
                  <a:pt x="909274" y="0"/>
                </a:lnTo>
                <a:arcTo hR="144760" wR="144760" stAng="16200000" swAng="5400000"/>
                <a:lnTo>
                  <a:pt x="1054034" y="144760"/>
                </a:lnTo>
                <a:arcTo hR="144760" wR="144760" stAng="0" swAng="5400000"/>
                <a:lnTo>
                  <a:pt x="144760" y="289520"/>
                </a:lnTo>
                <a:arcTo hR="144760" wR="144760" stAng="5400000" swAng="5400000"/>
                <a:lnTo>
                  <a:pt x="0" y="144760"/>
                </a:lnTo>
                <a:arcTo hR="144760" wR="144760" stAng="10800000" swAng="5400000"/>
                <a:close/>
              </a:path>
            </a:pathLst>
          </a:custGeom>
          <a:solidFill>
            <a:srgbClr val="E2DAF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Challenges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667074" y="368300"/>
            <a:ext cx="7173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5A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1016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CHALLENGES</a:t>
            </a:r>
            <a:endParaRPr lang="en-US" sz="1200" dirty="0"/>
          </a:p>
        </p:txBody>
      </p:sp>
      <p:sp>
        <p:nvSpPr>
          <p:cNvPr id="11" name="Text 9"/>
          <p:cNvSpPr/>
          <p:nvPr>
            <p:ph type="title"/>
          </p:nvPr>
        </p:nvSpPr>
        <p:spPr>
          <a:xfrm>
            <a:off x="812800" y="1305520"/>
            <a:ext cx="10883392" cy="472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2A2340"/>
                </a:solidFill>
                <a:latin typeface="Fraunces" pitchFamily="18" charset="0"/>
                <a:ea typeface="Fraunces" pitchFamily="18" charset="-122"/>
                <a:cs typeface="Fraunces" pitchFamily="18" charset="-120"/>
              </a:rPr>
              <a:t>What got in the way, and the fix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812800" y="1981135"/>
            <a:ext cx="5207000" cy="1465395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41400" y="2184335"/>
            <a:ext cx="4892294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pip blocked on the host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41400" y="2504348"/>
            <a:ext cx="4892294" cy="467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Ubuntu marks system Python as externally managed (PEP 668), so the pip task failed.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1400" y="3022402"/>
            <a:ext cx="4892294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b="1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</a:t>
            </a:r>
            <a:r>
              <a:rPr lang="en-US" sz="1200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Pass --break-system-packages in the Ansible pip task.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1981135"/>
            <a:ext cx="5207000" cy="1465395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184335"/>
            <a:ext cx="4892294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Cluster could not find the image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0" y="2504348"/>
            <a:ext cx="4978400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notes-service:1.0.0 existed only on the laptop, not in any registry.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2801476"/>
            <a:ext cx="4892294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b="1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</a:t>
            </a:r>
            <a:r>
              <a:rPr lang="en-US" sz="1200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minikube image load, plus imagePullPolicy: IfNotPresent.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2800" y="3598929"/>
            <a:ext cx="5207000" cy="1686322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1041400" y="3802129"/>
            <a:ext cx="4892294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rolling update you cannot see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41400" y="4122142"/>
            <a:ext cx="4978400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retagged image is identical, so v2.0.0 looked exactly like v1.0.0.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41400" y="4419270"/>
            <a:ext cx="4892294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b="1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</a:t>
            </a:r>
            <a:r>
              <a:rPr lang="en-US" sz="1200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Set APP_VERSION through env and expose it on /version.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172200" y="3598929"/>
            <a:ext cx="5207000" cy="1686322"/>
          </a:xfrm>
          <a:prstGeom prst="roundRect">
            <a:avLst>
              <a:gd name="adj" fmla="val 7531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0" y="3802129"/>
            <a:ext cx="4892294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 empty error-rate panel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0800" y="4122142"/>
            <a:ext cx="4892294" cy="467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healthy app returns no 5xx responses, so the Grafana panel stayed blank.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4640197"/>
            <a:ext cx="4892294" cy="467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b="1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</a:t>
            </a:r>
            <a:r>
              <a:rPr lang="en-US" sz="1200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deliberate /boom endpoint and a curl loop to generate traffic.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2800" y="6238280"/>
            <a:ext cx="96297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5A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Challenges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133799" y="6238280"/>
            <a:ext cx="2454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5A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A9C7EE"/>
          </a:solidFill>
          <a:ln/>
        </p:spPr>
      </p:sp>
      <p:sp>
        <p:nvSpPr>
          <p:cNvPr id="3" name="Shape 1"/>
          <p:cNvSpPr/>
          <p:nvPr/>
        </p:nvSpPr>
        <p:spPr>
          <a:xfrm>
            <a:off x="4064000" y="0"/>
            <a:ext cx="4064000" cy="76200"/>
          </a:xfrm>
          <a:prstGeom prst="rect">
            <a:avLst/>
          </a:prstGeom>
          <a:solidFill>
            <a:srgbClr val="A08BDB"/>
          </a:solidFill>
          <a:ln/>
        </p:spPr>
      </p:sp>
      <p:sp>
        <p:nvSpPr>
          <p:cNvPr id="4" name="Shape 2"/>
          <p:cNvSpPr/>
          <p:nvPr/>
        </p:nvSpPr>
        <p:spPr>
          <a:xfrm>
            <a:off x="8128000" y="0"/>
            <a:ext cx="4064000" cy="76200"/>
          </a:xfrm>
          <a:prstGeom prst="rect">
            <a:avLst/>
          </a:prstGeom>
          <a:solidFill>
            <a:srgbClr val="D9A98C"/>
          </a:solidFill>
          <a:ln/>
        </p:spPr>
      </p:sp>
      <p:sp>
        <p:nvSpPr>
          <p:cNvPr id="5" name="Text 3"/>
          <p:cNvSpPr/>
          <p:nvPr/>
        </p:nvSpPr>
        <p:spPr>
          <a:xfrm>
            <a:off x="812800" y="368300"/>
            <a:ext cx="2514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6B4F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SERVICE · CA-2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209962" y="368300"/>
            <a:ext cx="10584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71417" y="368300"/>
            <a:ext cx="1102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69517" y="368300"/>
            <a:ext cx="96297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Challenges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37098" y="330200"/>
            <a:ext cx="842103" cy="289520"/>
          </a:xfrm>
          <a:custGeom>
            <a:avLst/>
            <a:gdLst/>
            <a:ahLst/>
            <a:cxnLst/>
            <a:rect l="l" t="t" r="r" b="b"/>
            <a:pathLst>
              <a:path w="842103" h="289520">
                <a:moveTo>
                  <a:pt x="144760" y="0"/>
                </a:moveTo>
                <a:lnTo>
                  <a:pt x="697343" y="0"/>
                </a:lnTo>
                <a:arcTo hR="144760" wR="144760" stAng="16200000" swAng="5400000"/>
                <a:lnTo>
                  <a:pt x="842103" y="144760"/>
                </a:lnTo>
                <a:arcTo hR="144760" wR="144760" stAng="0" swAng="5400000"/>
                <a:lnTo>
                  <a:pt x="144760" y="289520"/>
                </a:lnTo>
                <a:arcTo hR="144760" wR="144760" stAng="5400000" swAng="5400000"/>
                <a:lnTo>
                  <a:pt x="0" y="144760"/>
                </a:lnTo>
                <a:arcTo hR="144760" wR="144760" stAng="10800000" swAng="5400000"/>
                <a:close/>
              </a:path>
            </a:pathLst>
          </a:custGeom>
          <a:solidFill>
            <a:srgbClr val="E9E3F7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B359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2800" y="1016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7A4D3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LESSONS LEARNED</a:t>
            </a:r>
            <a:endParaRPr lang="en-US" sz="1200" dirty="0"/>
          </a:p>
        </p:txBody>
      </p:sp>
      <p:sp>
        <p:nvSpPr>
          <p:cNvPr id="11" name="Text 9"/>
          <p:cNvSpPr/>
          <p:nvPr>
            <p:ph type="title"/>
          </p:nvPr>
        </p:nvSpPr>
        <p:spPr>
          <a:xfrm>
            <a:off x="812800" y="1305520"/>
            <a:ext cx="10883392" cy="4724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2A2340"/>
                </a:solidFill>
                <a:latin typeface="Fraunces" pitchFamily="18" charset="0"/>
                <a:ea typeface="Fraunces" pitchFamily="18" charset="-122"/>
                <a:cs typeface="Fraunces" pitchFamily="18" charset="-120"/>
              </a:rPr>
              <a:t>What we would carry forward</a:t>
            </a:r>
            <a:endParaRPr lang="en-US" sz="3200" dirty="0"/>
          </a:p>
        </p:txBody>
      </p:sp>
      <p:sp>
        <p:nvSpPr>
          <p:cNvPr id="12" name="Shape 10"/>
          <p:cNvSpPr/>
          <p:nvPr/>
        </p:nvSpPr>
        <p:spPr>
          <a:xfrm>
            <a:off x="825500" y="1981135"/>
            <a:ext cx="0" cy="502841"/>
          </a:xfrm>
          <a:prstGeom prst="line">
            <a:avLst/>
          </a:prstGeom>
          <a:noFill/>
          <a:ln w="25400">
            <a:solidFill>
              <a:srgbClr val="A9C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0600" y="1981135"/>
            <a:ext cx="4923089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Idempotency is the real test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90600" y="2263049"/>
            <a:ext cx="5638800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second Ansible run with changed=0 is what makes re-runs safe.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5500" y="2623676"/>
            <a:ext cx="0" cy="502841"/>
          </a:xfrm>
          <a:prstGeom prst="line">
            <a:avLst/>
          </a:prstGeom>
          <a:noFill/>
          <a:ln w="25400">
            <a:solidFill>
              <a:srgbClr val="A08B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0600" y="2623676"/>
            <a:ext cx="557829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Probes make rollouts boring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90600" y="2905590"/>
            <a:ext cx="5638800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Readiness checks plus maxUnavailable 0 kept full capacity during updates.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5500" y="3266216"/>
            <a:ext cx="0" cy="502841"/>
          </a:xfrm>
          <a:prstGeom prst="line">
            <a:avLst/>
          </a:prstGeom>
          <a:noFill/>
          <a:ln w="25400">
            <a:solidFill>
              <a:srgbClr val="D9A9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600" y="3266216"/>
            <a:ext cx="529317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Instrument before dashboards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90600" y="3548131"/>
            <a:ext cx="5638800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Labelled counters and a latency histogram made each panel one query.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5500" y="3908757"/>
            <a:ext cx="0" cy="502841"/>
          </a:xfrm>
          <a:prstGeom prst="line">
            <a:avLst/>
          </a:prstGeom>
          <a:noFill/>
          <a:ln w="25400">
            <a:solidFill>
              <a:srgbClr val="A9C7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0600" y="3908757"/>
            <a:ext cx="4604240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A23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the artefact, not just the code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90600" y="4190671"/>
            <a:ext cx="5364163" cy="24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5A54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Smoke-testing the built container catches what pytest cannot.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934200" y="1981135"/>
            <a:ext cx="4445000" cy="3429000"/>
          </a:xfrm>
          <a:prstGeom prst="roundRect">
            <a:avLst>
              <a:gd name="adj" fmla="val 3333"/>
            </a:avLst>
          </a:prstGeom>
          <a:solidFill>
            <a:srgbClr val="1E1B2B"/>
          </a:solidFill>
          <a:ln/>
        </p:spPr>
      </p:sp>
      <p:pic>
        <p:nvPicPr>
          <p:cNvPr id="25" name="Image 0" descr="Two ansible-playbook runs: first changed=6, second changed=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6265" y="1981135"/>
            <a:ext cx="4060870" cy="34290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934200" y="5486335"/>
            <a:ext cx="45783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Ansible run twice: changed=6, then changed=0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538622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github.com/aditisharmas11/DevOps-CA2_2023_27 · Thank you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1141803" y="6238280"/>
            <a:ext cx="23739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B64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vOps CA-2: Notes Service">
  <a:themeElements>
    <a:clrScheme name="DevOps CA-2: Notes Service">
      <a:dk1>
        <a:srgbClr val="2A2340"/>
      </a:dk1>
      <a:lt1>
        <a:srgbClr val="FAF6F2"/>
      </a:lt1>
      <a:dk2>
        <a:srgbClr val="5E586D"/>
      </a:dk2>
      <a:lt2>
        <a:srgbClr val="E5E1E0"/>
      </a:lt2>
      <a:accent1>
        <a:srgbClr val="2F5C9E"/>
      </a:accent1>
      <a:accent2>
        <a:srgbClr val="7A4D39"/>
      </a:accent2>
      <a:accent3>
        <a:srgbClr val="4B3591"/>
      </a:accent3>
      <a:accent4>
        <a:srgbClr val="A9C7EE"/>
      </a:accent4>
      <a:accent5>
        <a:srgbClr val="A08BDB"/>
      </a:accent5>
      <a:accent6>
        <a:srgbClr val="D9A98C"/>
      </a:accent6>
      <a:hlink>
        <a:srgbClr val="0563C1"/>
      </a:hlink>
      <a:folHlink>
        <a:srgbClr val="954F72"/>
      </a:folHlink>
    </a:clrScheme>
    <a:fontScheme name="DevOps CA-2: Notes Serv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DevOps CA-2: Notes Service</dc:title>
  <dc:subject/>
  <dc:creator/>
  <cp:lastModifiedBy/>
  <cp:revision>1</cp:revision>
  <dcterms:created xsi:type="dcterms:W3CDTF">2026-10-05T18:33:30Z</dcterms:created>
  <dcterms:modified xsi:type="dcterms:W3CDTF">2026-10-05T18:33:30Z</dcterms:modified>
</cp:coreProperties>
</file>