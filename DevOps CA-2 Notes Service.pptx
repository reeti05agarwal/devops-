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small Flask notes API that we used as the vehicle for every DevOps step in CA-2: pipeline, configuration management, containers and orchestration,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push or PR triggers GitHub Actions: lint and test in parallel, build the image once, scan it with Trivy, deploy it to a throwaway kind cluster, then publish the same image to GHCR. In Kubernetes the app runs in the notes namespace: three pods behind a NodePort service, an HPA that scales from 3 to 6, a PodDisruptionBudget that keeps at least 2 up, and settings from a ConfigMap. Ansible roles configure a plain Ubuntu VM with a virtualenv and a systemd unit. Prometheus scrapes /metrics, evaluates alert rules, and Grafana shows the provisioned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lint and test run in parallel; the image is built once as version 1.0.run-number, smoke-tested, scanned with Trivy, deployed to a kind cluster inside the job, and only then pushed to GHCR. If the rollout is not healthy within 120 seconds the job runs rollout undo and fails. Step 2: two Ansible roles configure the host; dependencies go into a virtualenv and the app runs under systemd, and the playbook verifies health and version at the end. Step 3: a multi-stage, non-root image; Kubernetes adds autoscaling, a disruption budget, separate readiness and liveness probes, a progress deadline and a preStop delay so no requests are dropped. Step 4: Prometheus scrapes every 5 seconds, Grafana loads the dashboard from the repo, and three alert rules cover downtime, error rate and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problems that cost us the most time. Others we solved along the way: testing the playbook in Docker meant there was no systemd, so the role detects the service manager and starts gunicorn as a daemon instead; scripts edited on Windows failed with bad interpreter until .gitattributes forced LF line endings; and using /health for both probes sent traffic to pods that were not ready, so we added a separate /ready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once: rebuilding per stage means testing one image and shipping another. Idempotency: the screenshot shows the second run changed nothing. Rollback: rollout undo only helps if probes, maxUnavailable 0 and a progress deadline keep the old pods serving while the bad release stalls. Everything as code: the pipeline, server config, cluster state, dashboards and alerts are all reviewed files, and linting, image scanning and a non-root, read-only container cost almost nothing to add early. Thank the audience and point to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0552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A234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57334"/>
            <a:ext cx="10566400" cy="3987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0552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2A234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57334"/>
            <a:ext cx="10566400" cy="3987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000" y="0"/>
            <a:ext cx="5715000" cy="5715000"/>
          </a:xfrm>
          <a:prstGeom prst="roundRect">
            <a:avLst>
              <a:gd name="adj" fmla="val 28444"/>
            </a:avLst>
          </a:prstGeom>
          <a:solidFill>
            <a:srgbClr val="EAF1FB"/>
          </a:solidFill>
          <a:ln/>
        </p:spPr>
      </p:sp>
      <p:sp>
        <p:nvSpPr>
          <p:cNvPr id="3" name="Shape 1"/>
          <p:cNvSpPr/>
          <p:nvPr/>
        </p:nvSpPr>
        <p:spPr>
          <a:xfrm>
            <a:off x="9017000" y="3556000"/>
            <a:ext cx="3937000" cy="3937000"/>
          </a:xfrm>
          <a:prstGeom prst="roundRect">
            <a:avLst>
              <a:gd name="adj" fmla="val 41290"/>
            </a:avLst>
          </a:prstGeom>
          <a:solidFill>
            <a:srgbClr val="F0EBFA"/>
          </a:solidFill>
          <a:ln/>
        </p:spPr>
      </p:sp>
      <p:sp>
        <p:nvSpPr>
          <p:cNvPr id="4" name="Shape 2"/>
          <p:cNvSpPr/>
          <p:nvPr/>
        </p:nvSpPr>
        <p:spPr>
          <a:xfrm>
            <a:off x="7874000" y="4064000"/>
            <a:ext cx="1651000" cy="1651000"/>
          </a:xfrm>
          <a:prstGeom prst="roundRect">
            <a:avLst>
              <a:gd name="adj" fmla="val 50000"/>
            </a:avLst>
          </a:prstGeom>
          <a:solidFill>
            <a:srgbClr val="F7DCC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A9C7EE"/>
          </a:solidFill>
          <a:ln/>
        </p:spPr>
      </p:sp>
      <p:sp>
        <p:nvSpPr>
          <p:cNvPr id="6" name="Shape 4"/>
          <p:cNvSpPr/>
          <p:nvPr/>
        </p:nvSpPr>
        <p:spPr>
          <a:xfrm>
            <a:off x="4064000" y="0"/>
            <a:ext cx="4064000" cy="76200"/>
          </a:xfrm>
          <a:prstGeom prst="rect">
            <a:avLst/>
          </a:prstGeom>
          <a:solidFill>
            <a:srgbClr val="A08BDB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0" y="0"/>
            <a:ext cx="4064000" cy="76200"/>
          </a:xfrm>
          <a:prstGeom prst="rect">
            <a:avLst/>
          </a:prstGeom>
          <a:solidFill>
            <a:srgbClr val="D9A98C"/>
          </a:solidFill>
          <a:ln/>
        </p:spPr>
      </p:sp>
      <p:pic>
        <p:nvPicPr>
          <p:cNvPr id="8" name="Image 0" descr="DevOps lifecycle loop: plan, code, build, test, release, deploy, operate, moni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3000" y="1587500"/>
            <a:ext cx="4064000" cy="2159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2800" y="124340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6B4F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THEORY · CA-2 · BTECH PROJECT</a:t>
            </a:r>
            <a:endParaRPr lang="en-US" sz="1200" dirty="0"/>
          </a:p>
        </p:txBody>
      </p:sp>
      <p:sp>
        <p:nvSpPr>
          <p:cNvPr id="10" name="Text 7"/>
          <p:cNvSpPr/>
          <p:nvPr>
            <p:ph type="title"/>
          </p:nvPr>
        </p:nvSpPr>
        <p:spPr>
          <a:xfrm>
            <a:off x="812800" y="1710730"/>
            <a:ext cx="6540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0" i="0" dirty="0">
                <a:solidFill>
                  <a:srgbClr val="2A234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Notes Service</a:t>
            </a:r>
            <a:endParaRPr lang="en-US" sz="6600" dirty="0"/>
          </a:p>
        </p:txBody>
      </p:sp>
      <p:sp>
        <p:nvSpPr>
          <p:cNvPr id="11" name="Text 8"/>
          <p:cNvSpPr/>
          <p:nvPr/>
        </p:nvSpPr>
        <p:spPr>
          <a:xfrm>
            <a:off x="812800" y="2802930"/>
            <a:ext cx="640969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i="1" dirty="0">
                <a:solidFill>
                  <a:srgbClr val="7A4D39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From commit to cluster: a Flask REST service taken through the full DevOps lifecycle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2800" y="3755430"/>
            <a:ext cx="1414132" cy="340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328532" y="3755430"/>
            <a:ext cx="857647" cy="340320"/>
          </a:xfrm>
          <a:prstGeom prst="roundRect">
            <a:avLst>
              <a:gd name="adj" fmla="val 50000"/>
            </a:avLst>
          </a:prstGeom>
          <a:solidFill>
            <a:srgbClr val="F0EB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Ansible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87779" y="3755430"/>
            <a:ext cx="1861807" cy="340320"/>
          </a:xfrm>
          <a:prstGeom prst="roundRect">
            <a:avLst>
              <a:gd name="adj" fmla="val 50000"/>
            </a:avLst>
          </a:prstGeom>
          <a:solidFill>
            <a:srgbClr val="FBEA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+ Kubernetes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4197350"/>
            <a:ext cx="1959835" cy="340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+ Grafana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5500" y="4791670"/>
            <a:ext cx="0" cy="822920"/>
          </a:xfrm>
          <a:prstGeom prst="line">
            <a:avLst/>
          </a:prstGeom>
          <a:noFill/>
          <a:ln w="25400">
            <a:solidFill>
              <a:srgbClr val="A08B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6000" y="4791670"/>
            <a:ext cx="1067409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[Member 1 name] · [PRN]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16000" y="5078677"/>
            <a:ext cx="1067409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[Member 2 name] · [PRN]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16000" y="5365684"/>
            <a:ext cx="1067409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[Member 3 name] · [PRN]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A9C7EE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76200"/>
          </a:xfrm>
          <a:prstGeom prst="rect">
            <a:avLst/>
          </a:prstGeom>
          <a:solidFill>
            <a:srgbClr val="A08BD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0" y="0"/>
            <a:ext cx="4064000" cy="76200"/>
          </a:xfrm>
          <a:prstGeom prst="rect">
            <a:avLst/>
          </a:prstGeom>
          <a:solidFill>
            <a:srgbClr val="D9A98C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368300"/>
            <a:ext cx="251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4F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SERVICE · CA-2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77737" y="330200"/>
            <a:ext cx="1144257" cy="289520"/>
          </a:xfrm>
          <a:custGeom>
            <a:avLst/>
            <a:gdLst/>
            <a:ahLst/>
            <a:cxnLst/>
            <a:rect l="l" t="t" r="r" b="b"/>
            <a:pathLst>
              <a:path w="1144257" h="289520">
                <a:moveTo>
                  <a:pt x="144760" y="0"/>
                </a:moveTo>
                <a:lnTo>
                  <a:pt x="999497" y="0"/>
                </a:lnTo>
                <a:arcTo hR="144760" wR="144760" stAng="16200000" swAng="5400000"/>
                <a:lnTo>
                  <a:pt x="1144257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E9E3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7093" y="368300"/>
            <a:ext cx="11024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85193" y="368300"/>
            <a:ext cx="9629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7074" y="368300"/>
            <a:ext cx="7173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1016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1" name="Text 9"/>
          <p:cNvSpPr/>
          <p:nvPr>
            <p:ph type="title"/>
          </p:nvPr>
        </p:nvSpPr>
        <p:spPr>
          <a:xfrm>
            <a:off x="812800" y="13055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A234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How the pieces connect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19150" y="2367161"/>
            <a:ext cx="1193800" cy="868627"/>
          </a:xfrm>
          <a:prstGeom prst="roundRect">
            <a:avLst>
              <a:gd name="adj" fmla="val 12428"/>
            </a:avLst>
          </a:prstGeom>
          <a:solidFill>
            <a:srgbClr val="FFFFFF"/>
          </a:solidFill>
          <a:ln w="12700">
            <a:solidFill>
              <a:srgbClr val="E6D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9245" y="2551311"/>
            <a:ext cx="105354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1957" y="2838318"/>
            <a:ext cx="8281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/ PR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6300" y="2623675"/>
            <a:ext cx="2700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A478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492507" y="2334154"/>
            <a:ext cx="5238486" cy="934641"/>
          </a:xfrm>
          <a:prstGeom prst="roundRect">
            <a:avLst>
              <a:gd name="adj" fmla="val 13588"/>
            </a:avLst>
          </a:prstGeom>
          <a:solidFill>
            <a:srgbClr val="EA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2670307" y="2486554"/>
            <a:ext cx="50293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→ GHCR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70307" y="2801475"/>
            <a:ext cx="425516" cy="314920"/>
          </a:xfrm>
          <a:prstGeom prst="roundRect">
            <a:avLst>
              <a:gd name="adj" fmla="val 20164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46623" y="2801475"/>
            <a:ext cx="468776" cy="314920"/>
          </a:xfrm>
          <a:prstGeom prst="roundRect">
            <a:avLst>
              <a:gd name="adj" fmla="val 20164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66199" y="2852275"/>
            <a:ext cx="1094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5604" y="2801475"/>
            <a:ext cx="521097" cy="314920"/>
          </a:xfrm>
          <a:prstGeom prst="roundRect">
            <a:avLst>
              <a:gd name="adj" fmla="val 20164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7501" y="2852275"/>
            <a:ext cx="1094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56906" y="2801475"/>
            <a:ext cx="522552" cy="314920"/>
          </a:xfrm>
          <a:prstGeom prst="roundRect">
            <a:avLst>
              <a:gd name="adj" fmla="val 20164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30258" y="2852275"/>
            <a:ext cx="1094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39664" y="2801475"/>
            <a:ext cx="667213" cy="314920"/>
          </a:xfrm>
          <a:prstGeom prst="roundRect">
            <a:avLst>
              <a:gd name="adj" fmla="val 20164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7677" y="2852275"/>
            <a:ext cx="1094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67082" y="2801475"/>
            <a:ext cx="695920" cy="314920"/>
          </a:xfrm>
          <a:prstGeom prst="roundRect">
            <a:avLst>
              <a:gd name="adj" fmla="val 20164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57993" y="2623675"/>
            <a:ext cx="2700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A478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204200" y="2006534"/>
            <a:ext cx="3175000" cy="1589881"/>
          </a:xfrm>
          <a:prstGeom prst="roundRect">
            <a:avLst>
              <a:gd name="adj" fmla="val 7988"/>
            </a:avLst>
          </a:prstGeom>
          <a:solidFill>
            <a:srgbClr val="F0EBFA"/>
          </a:solidFill>
          <a:ln/>
        </p:spPr>
      </p:sp>
      <p:sp>
        <p:nvSpPr>
          <p:cNvPr id="30" name="Text 28"/>
          <p:cNvSpPr/>
          <p:nvPr/>
        </p:nvSpPr>
        <p:spPr>
          <a:xfrm>
            <a:off x="8382000" y="2158934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· NS notes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82000" y="2448454"/>
            <a:ext cx="2819400" cy="314920"/>
          </a:xfrm>
          <a:prstGeom prst="roundRect">
            <a:avLst>
              <a:gd name="adj" fmla="val 24197"/>
            </a:avLst>
          </a:prstGeom>
          <a:solidFill>
            <a:srgbClr val="FFFFFF"/>
          </a:solidFill>
          <a:ln/>
        </p:spPr>
        <p:txBody>
          <a:bodyPr wrap="square" lIns="79282" tIns="28482" rIns="796" bIns="30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· NodePort 30080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82000" y="2839575"/>
            <a:ext cx="897467" cy="314920"/>
          </a:xfrm>
          <a:custGeom>
            <a:avLst/>
            <a:gdLst/>
            <a:ahLst/>
            <a:cxnLst/>
            <a:rect l="l" t="t" r="r" b="b"/>
            <a:pathLst>
              <a:path w="897467" h="314920">
                <a:moveTo>
                  <a:pt x="76200" y="0"/>
                </a:moveTo>
                <a:lnTo>
                  <a:pt x="821267" y="0"/>
                </a:lnTo>
                <a:arcTo hR="76200" wR="76200" stAng="16200000" swAng="5400000"/>
                <a:lnTo>
                  <a:pt x="897467" y="238720"/>
                </a:lnTo>
                <a:arcTo hR="76200" wR="76200" stAng="0" swAng="5400000"/>
                <a:lnTo>
                  <a:pt x="76200" y="3149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 wrap="square" lIns="0" tIns="50800" rIns="0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 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42967" y="2839575"/>
            <a:ext cx="897467" cy="314920"/>
          </a:xfrm>
          <a:custGeom>
            <a:avLst/>
            <a:gdLst/>
            <a:ahLst/>
            <a:cxnLst/>
            <a:rect l="l" t="t" r="r" b="b"/>
            <a:pathLst>
              <a:path w="897467" h="314920">
                <a:moveTo>
                  <a:pt x="76200" y="0"/>
                </a:moveTo>
                <a:lnTo>
                  <a:pt x="821267" y="0"/>
                </a:lnTo>
                <a:arcTo hR="76200" wR="76200" stAng="16200000" swAng="5400000"/>
                <a:lnTo>
                  <a:pt x="897467" y="238720"/>
                </a:lnTo>
                <a:arcTo hR="76200" wR="76200" stAng="0" swAng="5400000"/>
                <a:lnTo>
                  <a:pt x="76200" y="3149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 wrap="square" lIns="0" tIns="50800" rIns="0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 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03934" y="2839575"/>
            <a:ext cx="897467" cy="314920"/>
          </a:xfrm>
          <a:custGeom>
            <a:avLst/>
            <a:gdLst/>
            <a:ahLst/>
            <a:cxnLst/>
            <a:rect l="l" t="t" r="r" b="b"/>
            <a:pathLst>
              <a:path w="897467" h="314920">
                <a:moveTo>
                  <a:pt x="76200" y="0"/>
                </a:moveTo>
                <a:lnTo>
                  <a:pt x="821267" y="0"/>
                </a:lnTo>
                <a:arcTo hR="76200" wR="76200" stAng="16200000" swAng="5400000"/>
                <a:lnTo>
                  <a:pt x="897467" y="238720"/>
                </a:lnTo>
                <a:arcTo hR="76200" wR="76200" stAng="0" swAng="5400000"/>
                <a:lnTo>
                  <a:pt x="76200" y="31492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 wrap="square" lIns="0" tIns="50800" rIns="0" bIns="254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82000" y="3230695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HPA 3–6 · PDB min 2 · ConfigMap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2800" y="3850415"/>
            <a:ext cx="5207000" cy="1028634"/>
          </a:xfrm>
          <a:prstGeom prst="roundRect">
            <a:avLst>
              <a:gd name="adj" fmla="val 12346"/>
            </a:avLst>
          </a:prstGeom>
          <a:solidFill>
            <a:srgbClr val="FBEADF"/>
          </a:solidFill>
          <a:ln/>
        </p:spPr>
      </p:sp>
      <p:sp>
        <p:nvSpPr>
          <p:cNvPr id="37" name="Text 35"/>
          <p:cNvSpPr/>
          <p:nvPr/>
        </p:nvSpPr>
        <p:spPr>
          <a:xfrm>
            <a:off x="1016000" y="4028215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· ANSIBLE ROLES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16000" y="4343136"/>
            <a:ext cx="1943298" cy="358114"/>
          </a:xfrm>
          <a:prstGeom prst="roundRect">
            <a:avLst>
              <a:gd name="adj" fmla="val 21278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+ notes_app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60898" y="4379979"/>
            <a:ext cx="22998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341688" y="4343136"/>
            <a:ext cx="2424906" cy="358114"/>
          </a:xfrm>
          <a:prstGeom prst="roundRect">
            <a:avLst>
              <a:gd name="adj" fmla="val 21278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Ubuntu VM · venv · systemd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72200" y="3850415"/>
            <a:ext cx="5207000" cy="1028634"/>
          </a:xfrm>
          <a:prstGeom prst="roundRect">
            <a:avLst>
              <a:gd name="adj" fmla="val 12346"/>
            </a:avLst>
          </a:prstGeom>
          <a:solidFill>
            <a:srgbClr val="EAF1FB"/>
          </a:solidFill>
          <a:ln/>
        </p:spPr>
      </p:sp>
      <p:sp>
        <p:nvSpPr>
          <p:cNvPr id="42" name="Text 40"/>
          <p:cNvSpPr/>
          <p:nvPr/>
        </p:nvSpPr>
        <p:spPr>
          <a:xfrm>
            <a:off x="6375400" y="4028215"/>
            <a:ext cx="4944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75400" y="4343136"/>
            <a:ext cx="866973" cy="358114"/>
          </a:xfrm>
          <a:prstGeom prst="roundRect">
            <a:avLst>
              <a:gd name="adj" fmla="val 21278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/metrics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31273" y="4379979"/>
            <a:ext cx="226153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95526" y="4343136"/>
            <a:ext cx="1813587" cy="358114"/>
          </a:xfrm>
          <a:prstGeom prst="roundRect">
            <a:avLst>
              <a:gd name="adj" fmla="val 21278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+ alerts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498013" y="4379979"/>
            <a:ext cx="226153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62265" y="4343136"/>
            <a:ext cx="837539" cy="358114"/>
          </a:xfrm>
          <a:prstGeom prst="roundRect">
            <a:avLst>
              <a:gd name="adj" fmla="val 21278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12800" y="513304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app endpoints</a:t>
            </a: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/health · /ready · /version · /notes · /metrics · /boom · /slow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2800" y="6238280"/>
            <a:ext cx="7644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+ gunicorn · GitHub Actions · Ansible · Docker · Kubernetes · Prometheus · Grafana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139289" y="6238280"/>
            <a:ext cx="2399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A9C7EE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76200"/>
          </a:xfrm>
          <a:prstGeom prst="rect">
            <a:avLst/>
          </a:prstGeom>
          <a:solidFill>
            <a:srgbClr val="A08BD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0" y="0"/>
            <a:ext cx="4064000" cy="76200"/>
          </a:xfrm>
          <a:prstGeom prst="rect">
            <a:avLst/>
          </a:prstGeom>
          <a:solidFill>
            <a:srgbClr val="D9A98C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368300"/>
            <a:ext cx="251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4F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SERVICE · CA-2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01826" y="368300"/>
            <a:ext cx="10471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48981" y="330200"/>
            <a:ext cx="1171112" cy="289520"/>
          </a:xfrm>
          <a:custGeom>
            <a:avLst/>
            <a:gdLst/>
            <a:ahLst/>
            <a:cxnLst/>
            <a:rect l="l" t="t" r="r" b="b"/>
            <a:pathLst>
              <a:path w="1171112" h="289520">
                <a:moveTo>
                  <a:pt x="144760" y="0"/>
                </a:moveTo>
                <a:lnTo>
                  <a:pt x="1026352" y="0"/>
                </a:lnTo>
                <a:arcTo hR="144760" wR="144760" stAng="16200000" swAng="5400000"/>
                <a:lnTo>
                  <a:pt x="1171112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E9E3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85193" y="368300"/>
            <a:ext cx="9629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7074" y="368300"/>
            <a:ext cx="7173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1016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11" name="Text 9"/>
          <p:cNvSpPr/>
          <p:nvPr>
            <p:ph type="title"/>
          </p:nvPr>
        </p:nvSpPr>
        <p:spPr>
          <a:xfrm>
            <a:off x="812800" y="13055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A234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From commit to monitored cluster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19150" y="1987485"/>
            <a:ext cx="2533650" cy="316951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6D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3300" y="2171635"/>
            <a:ext cx="22303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· CI/CD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3300" y="2473855"/>
            <a:ext cx="2230311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9556" y="2806568"/>
            <a:ext cx="2209102" cy="17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Lint: ruff, hadolint, yamllint, ansible-lint, kubeconform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pytest, coverage ≥ 85%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once, smoke test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Trivy image + config scan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to kind, push to GHCR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3300" y="4632523"/>
            <a:ext cx="2165350" cy="340320"/>
          </a:xfrm>
          <a:prstGeom prst="roundRect">
            <a:avLst>
              <a:gd name="adj" fmla="val 22391"/>
            </a:avLst>
          </a:prstGeom>
          <a:solidFill>
            <a:srgbClr val="EAF1FB"/>
          </a:solidFill>
          <a:ln/>
        </p:spPr>
        <p:txBody>
          <a:bodyPr wrap="square" lIns="79282" tIns="41182" rIns="20417" bIns="157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Auto-rollback on failure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92500" y="1987485"/>
            <a:ext cx="2533650" cy="316951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6D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6650" y="2171635"/>
            <a:ext cx="22303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· CONFIG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76650" y="2473855"/>
            <a:ext cx="2230311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Ansible roles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92906" y="2806568"/>
            <a:ext cx="2209102" cy="17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common: packages, timezone, admin users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notes_app: nologin user, dirs, .env 0600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Deps in a virtualenv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systemd unit + logrotate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/health and /version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76650" y="4632523"/>
            <a:ext cx="2165350" cy="340320"/>
          </a:xfrm>
          <a:prstGeom prst="roundRect">
            <a:avLst>
              <a:gd name="adj" fmla="val 22391"/>
            </a:avLst>
          </a:prstGeom>
          <a:solidFill>
            <a:srgbClr val="F0EBFA"/>
          </a:solidFill>
          <a:ln/>
        </p:spPr>
        <p:txBody>
          <a:bodyPr wrap="square" lIns="79282" tIns="41182" rIns="20417" bIns="157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Re-run: changed=0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5850" y="1987485"/>
            <a:ext cx="2533650" cy="316951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6D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0000" y="2171635"/>
            <a:ext cx="22303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· CONTAINERS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0000" y="2473855"/>
            <a:ext cx="2230311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+ K8s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66256" y="2806568"/>
            <a:ext cx="2209102" cy="17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Multi-stage, non-root, read-only FS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replicas, HPA 3–6, PDB 2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/ready and /health probes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maxSurge 1, maxUnavailable 0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s deadline, preStop 5 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0000" y="4632523"/>
            <a:ext cx="2165350" cy="340320"/>
          </a:xfrm>
          <a:prstGeom prst="roundRect">
            <a:avLst>
              <a:gd name="adj" fmla="val 22391"/>
            </a:avLst>
          </a:prstGeom>
          <a:solidFill>
            <a:srgbClr val="FBEADF"/>
          </a:solidFill>
          <a:ln/>
        </p:spPr>
        <p:txBody>
          <a:bodyPr wrap="square" lIns="79282" tIns="41182" rIns="20417" bIns="157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Zero-downtime updates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39200" y="1987485"/>
            <a:ext cx="2533650" cy="316951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6DE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23350" y="2171635"/>
            <a:ext cx="22303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 · MONITORING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23350" y="2473855"/>
            <a:ext cx="2230311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+ Grafana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39606" y="3050381"/>
            <a:ext cx="2209102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 /metrics every 5 s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golden signals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provisioned as code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Alerts: down, errors &gt; 5%, p95 &gt; 500 ms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3E3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via kubectl logs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23350" y="4632523"/>
            <a:ext cx="2165350" cy="340320"/>
          </a:xfrm>
          <a:prstGeom prst="roundRect">
            <a:avLst>
              <a:gd name="adj" fmla="val 22391"/>
            </a:avLst>
          </a:prstGeom>
          <a:solidFill>
            <a:srgbClr val="EAF1FB"/>
          </a:solidFill>
          <a:ln/>
        </p:spPr>
        <p:txBody>
          <a:bodyPr wrap="square" lIns="79282" tIns="41182" rIns="20417" bIns="157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panels · 3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44846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ci.yml · ansible/roles · Dockerfile · k8s/ · monitoring/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38098" y="6238280"/>
            <a:ext cx="2411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A9C7EE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76200"/>
          </a:xfrm>
          <a:prstGeom prst="rect">
            <a:avLst/>
          </a:prstGeom>
          <a:solidFill>
            <a:srgbClr val="A08BD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0" y="0"/>
            <a:ext cx="4064000" cy="76200"/>
          </a:xfrm>
          <a:prstGeom prst="rect">
            <a:avLst/>
          </a:prstGeom>
          <a:solidFill>
            <a:srgbClr val="D9A98C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368300"/>
            <a:ext cx="251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4F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SERVICE · CA-2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02686" y="368300"/>
            <a:ext cx="1058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64141" y="368300"/>
            <a:ext cx="108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47940" y="330200"/>
            <a:ext cx="1054034" cy="289520"/>
          </a:xfrm>
          <a:custGeom>
            <a:avLst/>
            <a:gdLst/>
            <a:ahLst/>
            <a:cxnLst/>
            <a:rect l="l" t="t" r="r" b="b"/>
            <a:pathLst>
              <a:path w="1054034" h="289520">
                <a:moveTo>
                  <a:pt x="144760" y="0"/>
                </a:moveTo>
                <a:lnTo>
                  <a:pt x="909274" y="0"/>
                </a:lnTo>
                <a:arcTo hR="144760" wR="144760" stAng="16200000" swAng="5400000"/>
                <a:lnTo>
                  <a:pt x="1054034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E2DA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7074" y="368300"/>
            <a:ext cx="7173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1016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11" name="Text 9"/>
          <p:cNvSpPr/>
          <p:nvPr>
            <p:ph type="title"/>
          </p:nvPr>
        </p:nvSpPr>
        <p:spPr>
          <a:xfrm>
            <a:off x="812800" y="13055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A234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What got in the way, and the fix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12800" y="1981135"/>
            <a:ext cx="5207000" cy="1686322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2184335"/>
            <a:ext cx="489229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apt stalled on a tzdata prompt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1400" y="2504348"/>
            <a:ext cx="489229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Installing packages in the Ubuntu test container stopped to ask for a time zone.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400" y="3022402"/>
            <a:ext cx="489229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</a:t>
            </a:r>
            <a:r>
              <a:rPr lang="en-US" sz="12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DEBIAN_FRONTEND=noninteractive, and the common role sets the time zone.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981135"/>
            <a:ext cx="5207000" cy="1686322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184335"/>
            <a:ext cx="489229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 blocked by PEP 668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504348"/>
            <a:ext cx="489229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Ubuntu 24.04 refuses pip installs into system Python; the first fix was --break-system-packages.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022402"/>
            <a:ext cx="4978400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</a:t>
            </a:r>
            <a:r>
              <a:rPr lang="en-US" sz="12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Install dependencies into a virtualenv owned by the app user.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819857"/>
            <a:ext cx="5207000" cy="1686322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" y="4023057"/>
            <a:ext cx="489229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Metrics jumping up and down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1400" y="4343070"/>
            <a:ext cx="489229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gunicorn workers each kept their own counters, so Prometheus totals were inconsistent.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1400" y="4861123"/>
            <a:ext cx="489229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</a:t>
            </a:r>
            <a:r>
              <a:rPr lang="en-US" sz="12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worker with four threads, so one process owns the metrics.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819857"/>
            <a:ext cx="5207000" cy="1686322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023057"/>
            <a:ext cx="489229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Pods stuck in ErrImagePull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343070"/>
            <a:ext cx="4892294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cluster could not see images built on the host machine.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640197"/>
            <a:ext cx="489229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</a:t>
            </a:r>
            <a:r>
              <a:rPr lang="en-US" sz="1200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minikube image load / kind load, plus imagePullPolicy: IfNotPresent.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6880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solved: no systemd in test containers · Windows line endings · readiness vs liveness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33799" y="6238280"/>
            <a:ext cx="24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A9C7EE"/>
          </a:solidFill>
          <a:ln/>
        </p:spPr>
      </p:sp>
      <p:sp>
        <p:nvSpPr>
          <p:cNvPr id="3" name="Shape 1"/>
          <p:cNvSpPr/>
          <p:nvPr/>
        </p:nvSpPr>
        <p:spPr>
          <a:xfrm>
            <a:off x="4064000" y="0"/>
            <a:ext cx="4064000" cy="76200"/>
          </a:xfrm>
          <a:prstGeom prst="rect">
            <a:avLst/>
          </a:prstGeom>
          <a:solidFill>
            <a:srgbClr val="A08BD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0" y="0"/>
            <a:ext cx="4064000" cy="76200"/>
          </a:xfrm>
          <a:prstGeom prst="rect">
            <a:avLst/>
          </a:prstGeom>
          <a:solidFill>
            <a:srgbClr val="D9A98C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368300"/>
            <a:ext cx="2514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4FB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SERVICE · CA-2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09962" y="368300"/>
            <a:ext cx="10584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71417" y="368300"/>
            <a:ext cx="11024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69517" y="368300"/>
            <a:ext cx="9629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37098" y="330200"/>
            <a:ext cx="842103" cy="289520"/>
          </a:xfrm>
          <a:custGeom>
            <a:avLst/>
            <a:gdLst/>
            <a:ahLst/>
            <a:cxnLst/>
            <a:rect l="l" t="t" r="r" b="b"/>
            <a:pathLst>
              <a:path w="842103" h="289520">
                <a:moveTo>
                  <a:pt x="144760" y="0"/>
                </a:moveTo>
                <a:lnTo>
                  <a:pt x="697343" y="0"/>
                </a:lnTo>
                <a:arcTo hR="144760" wR="144760" stAng="16200000" swAng="5400000"/>
                <a:lnTo>
                  <a:pt x="842103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E9E3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B35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1016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A4D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11" name="Text 9"/>
          <p:cNvSpPr/>
          <p:nvPr>
            <p:ph type="title"/>
          </p:nvPr>
        </p:nvSpPr>
        <p:spPr>
          <a:xfrm>
            <a:off x="812800" y="13055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2A234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What we would carry forward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25500" y="1981135"/>
            <a:ext cx="0" cy="502841"/>
          </a:xfrm>
          <a:prstGeom prst="line">
            <a:avLst/>
          </a:prstGeom>
          <a:noFill/>
          <a:ln w="25400">
            <a:solidFill>
              <a:srgbClr val="A9C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1981135"/>
            <a:ext cx="580796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once, ship that artefact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2263049"/>
            <a:ext cx="5807964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image we test, scan and deploy is the exact one pushed to GHCR.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5500" y="2623676"/>
            <a:ext cx="0" cy="723768"/>
          </a:xfrm>
          <a:prstGeom prst="line">
            <a:avLst/>
          </a:prstGeom>
          <a:noFill/>
          <a:ln w="25400">
            <a:solidFill>
              <a:srgbClr val="A08B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0600" y="2623676"/>
            <a:ext cx="580796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 is testable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2905590"/>
            <a:ext cx="580796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the playbook twice and checking changed=0 exposes non-declarative tasks.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5500" y="3487142"/>
            <a:ext cx="0" cy="502841"/>
          </a:xfrm>
          <a:prstGeom prst="line">
            <a:avLst/>
          </a:prstGeom>
          <a:noFill/>
          <a:ln w="25400">
            <a:solidFill>
              <a:srgbClr val="D9A9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600" y="3487142"/>
            <a:ext cx="580796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is a design choice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3769057"/>
            <a:ext cx="5807964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Probes, maxUnavailable 0 and a progress deadline stop a bad release first.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5500" y="4129683"/>
            <a:ext cx="0" cy="723768"/>
          </a:xfrm>
          <a:prstGeom prst="line">
            <a:avLst/>
          </a:prstGeom>
          <a:noFill/>
          <a:ln w="25400">
            <a:solidFill>
              <a:srgbClr val="A9C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0600" y="4129683"/>
            <a:ext cx="580796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23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as code, security early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4411597"/>
            <a:ext cx="5807964" cy="467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5A54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Pipeline, config, cluster, dashboards and alerts live in the repo; linting and scans run on every push.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34200" y="1981135"/>
            <a:ext cx="4445000" cy="3429000"/>
          </a:xfrm>
          <a:prstGeom prst="roundRect">
            <a:avLst>
              <a:gd name="adj" fmla="val 3333"/>
            </a:avLst>
          </a:prstGeom>
          <a:solidFill>
            <a:srgbClr val="1E1B2B"/>
          </a:solidFill>
          <a:ln/>
        </p:spPr>
      </p:sp>
      <p:pic>
        <p:nvPicPr>
          <p:cNvPr id="25" name="Image 0" descr="Two ansible-playbook runs: first changed=6, second changed=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6265" y="1981135"/>
            <a:ext cx="4060870" cy="3429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934200" y="5486335"/>
            <a:ext cx="4578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Ansible run twice: changed=6, then changed=0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12800" y="6238280"/>
            <a:ext cx="53862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github.com/aditisharmas11/DevOps-CA2_2023_27 · Thank you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141803" y="6238280"/>
            <a:ext cx="2373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Ops CA-2: Notes Service">
  <a:themeElements>
    <a:clrScheme name="DevOps CA-2: Notes Service">
      <a:dk1>
        <a:srgbClr val="2A2340"/>
      </a:dk1>
      <a:lt1>
        <a:srgbClr val="FAF6F2"/>
      </a:lt1>
      <a:dk2>
        <a:srgbClr val="5E586D"/>
      </a:dk2>
      <a:lt2>
        <a:srgbClr val="E5E1E0"/>
      </a:lt2>
      <a:accent1>
        <a:srgbClr val="2F5C9E"/>
      </a:accent1>
      <a:accent2>
        <a:srgbClr val="7A4D39"/>
      </a:accent2>
      <a:accent3>
        <a:srgbClr val="4B3591"/>
      </a:accent3>
      <a:accent4>
        <a:srgbClr val="A9C7EE"/>
      </a:accent4>
      <a:accent5>
        <a:srgbClr val="A08BDB"/>
      </a:accent5>
      <a:accent6>
        <a:srgbClr val="D9A98C"/>
      </a:accent6>
      <a:hlink>
        <a:srgbClr val="0563C1"/>
      </a:hlink>
      <a:folHlink>
        <a:srgbClr val="954F72"/>
      </a:folHlink>
    </a:clrScheme>
    <a:fontScheme name="DevOps CA-2: Notes Serv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CA-2: Notes Service</dc:title>
  <dc:subject/>
  <dc:creator/>
  <cp:lastModifiedBy/>
  <cp:revision>1</cp:revision>
  <dcterms:created xsi:type="dcterms:W3CDTF">2026-10-05T18:52:06Z</dcterms:created>
  <dcterms:modified xsi:type="dcterms:W3CDTF">2026-10-05T18:52:06Z</dcterms:modified>
</cp:coreProperties>
</file>